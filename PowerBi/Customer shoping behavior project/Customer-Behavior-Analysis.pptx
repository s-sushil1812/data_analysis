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strument Sans Medium" panose="020B0604020202020204" charset="0"/>
      <p:regular r:id="rId13"/>
    </p:embeddedFont>
    <p:embeddedFont>
      <p:font typeface="Instrument Sans Semi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37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47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2130549"/>
            <a:ext cx="51152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613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Domain: Data Analysis · Python · SQL · PostgreSQL ·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1334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46893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data-driven study of customer purchasing behavior, subscription patterns, and revenue trends — translating raw transaction data into actionable business insights.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308845"/>
            <a:ext cx="2290465" cy="1053182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71640" y="24553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Source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761878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Real-world retail transaction data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308845"/>
            <a:ext cx="2290539" cy="1053182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3863" y="24553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Focus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3863" y="2761878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Behavior, subscriptions, revenue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503786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71640" y="365030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Output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71640" y="3956819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Interactive Power BI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586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Objectives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72369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Purchasing Behavior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Analyze what, when, and how customers buy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572369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Repeat Buyers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Identify and profile loyal returning customers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572369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033067"/>
            <a:ext cx="18197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Subscription Patterns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33957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Study subscription impact on spending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537421"/>
            <a:ext cx="18865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Revenue by Age Group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84393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Map purchase contribution across demographics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537421"/>
            <a:ext cx="18798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Preferences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84393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Understand category and product preferences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183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Tools &amp; Technologies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28341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2598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Python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566392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cleaning, transformation, and preprocessing pipelines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728341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2598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SQL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566392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Complex queries for revenue, segment, and trend analysis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914775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Relational database for structured data storage and querying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Power BI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914775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Interactive dashboards and KPI visualizations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69" y="1478472"/>
            <a:ext cx="3527822" cy="199905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08723" y="179884"/>
            <a:ext cx="622176" cy="239018"/>
          </a:xfrm>
          <a:prstGeom prst="roundRect">
            <a:avLst>
              <a:gd name="adj" fmla="val 18372"/>
            </a:avLst>
          </a:prstGeom>
          <a:solidFill>
            <a:srgbClr val="252528"/>
          </a:solidFill>
          <a:ln/>
        </p:spPr>
      </p:sp>
      <p:sp>
        <p:nvSpPr>
          <p:cNvPr id="4" name="Text 1"/>
          <p:cNvSpPr/>
          <p:nvPr/>
        </p:nvSpPr>
        <p:spPr>
          <a:xfrm>
            <a:off x="4387081" y="219025"/>
            <a:ext cx="92266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308723" y="467047"/>
            <a:ext cx="37244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Dataset Description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4308723" y="995908"/>
            <a:ext cx="4382616" cy="510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File:</a:t>
            </a: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customer_shopping_behavior.csv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Source:</a:t>
            </a: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Kaggle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308723" y="1419275"/>
            <a:ext cx="4382616" cy="815355"/>
          </a:xfrm>
          <a:prstGeom prst="roundRect">
            <a:avLst>
              <a:gd name="adj" fmla="val 8411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436" y="1419275"/>
            <a:ext cx="57150" cy="8153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96544" y="156423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Profile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496544" y="1888827"/>
            <a:ext cx="404983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ID, Age, Gender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308723" y="2304306"/>
            <a:ext cx="4382616" cy="815355"/>
          </a:xfrm>
          <a:prstGeom prst="roundRect">
            <a:avLst>
              <a:gd name="adj" fmla="val 8411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436" y="2304306"/>
            <a:ext cx="57150" cy="81535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96544" y="244926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Transaction Data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496544" y="2773859"/>
            <a:ext cx="404983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Category, Purchase Amount, Previous Purchases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308723" y="3182987"/>
            <a:ext cx="4382616" cy="815355"/>
          </a:xfrm>
          <a:prstGeom prst="roundRect">
            <a:avLst>
              <a:gd name="adj" fmla="val 8411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436" y="3182987"/>
            <a:ext cx="57150" cy="81535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96544" y="332794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Engagement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4496544" y="3652540"/>
            <a:ext cx="404983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Subscription Status, Review Rating</a:t>
            </a:r>
            <a:endParaRPr lang="en-US" sz="10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9596C877-312C-FAF5-39DB-915F869AE0B4}"/>
              </a:ext>
            </a:extLst>
          </p:cNvPr>
          <p:cNvSpPr/>
          <p:nvPr/>
        </p:nvSpPr>
        <p:spPr>
          <a:xfrm>
            <a:off x="4315073" y="4052937"/>
            <a:ext cx="4382616" cy="815355"/>
          </a:xfrm>
          <a:prstGeom prst="roundRect">
            <a:avLst>
              <a:gd name="adj" fmla="val 8411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E01E6F52-A669-28C0-1F80-B65782117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786" y="4052937"/>
            <a:ext cx="57150" cy="815355"/>
          </a:xfrm>
          <a:prstGeom prst="rect">
            <a:avLst/>
          </a:prstGeom>
        </p:spPr>
      </p:pic>
      <p:sp>
        <p:nvSpPr>
          <p:cNvPr id="22" name="Text 11">
            <a:extLst>
              <a:ext uri="{FF2B5EF4-FFF2-40B4-BE49-F238E27FC236}">
                <a16:creationId xmlns:a16="http://schemas.microsoft.com/office/drawing/2014/main" id="{56820333-24BB-7411-C680-CE7523D31D58}"/>
              </a:ext>
            </a:extLst>
          </p:cNvPr>
          <p:cNvSpPr/>
          <p:nvPr/>
        </p:nvSpPr>
        <p:spPr>
          <a:xfrm>
            <a:off x="4502894" y="419789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</a:rPr>
              <a:t>Missing</a:t>
            </a:r>
            <a:r>
              <a:rPr lang="en-US" sz="1250" dirty="0"/>
              <a:t> </a:t>
            </a: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</a:rPr>
              <a:t>Data</a:t>
            </a: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A732314E-6316-8223-C876-9A59CD1A21D5}"/>
              </a:ext>
            </a:extLst>
          </p:cNvPr>
          <p:cNvSpPr/>
          <p:nvPr/>
        </p:nvSpPr>
        <p:spPr>
          <a:xfrm>
            <a:off x="4502894" y="4522490"/>
            <a:ext cx="404983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</a:rPr>
              <a:t>37 missing values in Review Rating 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488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Methodology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261393"/>
            <a:ext cx="7890644" cy="296093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5341" y="2015596"/>
            <a:ext cx="407584" cy="4075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2209" y="3388901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Dashboard Creation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3200" y="2016360"/>
            <a:ext cx="407584" cy="40758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273699" y="3503534"/>
            <a:ext cx="14187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SQL Analysis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1442" y="2016360"/>
            <a:ext cx="407584" cy="40758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010540" y="3388901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Database Connection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89683" y="2016360"/>
            <a:ext cx="407584" cy="40758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518781" y="3388901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 Cleaning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9772" y="2016360"/>
            <a:ext cx="407584" cy="40758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94415" y="3388901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4" name="Text 6"/>
          <p:cNvSpPr/>
          <p:nvPr/>
        </p:nvSpPr>
        <p:spPr>
          <a:xfrm>
            <a:off x="496119" y="438179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End-to-end pipeline from raw data to interactive business intelligence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35682"/>
            <a:ext cx="4238476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Python Data Preprocessing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21643" y="896987"/>
            <a:ext cx="469553" cy="704404"/>
          </a:xfrm>
          <a:prstGeom prst="roundRect">
            <a:avLst>
              <a:gd name="adj" fmla="val 36004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8387" y="1139130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88380" y="1014338"/>
            <a:ext cx="154297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Handle Missing Values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88380" y="1256035"/>
            <a:ext cx="753390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Imputation and null removal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1643" y="1698575"/>
            <a:ext cx="469553" cy="704404"/>
          </a:xfrm>
          <a:prstGeom prst="roundRect">
            <a:avLst>
              <a:gd name="adj" fmla="val 36004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387" y="1940719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88380" y="1815926"/>
            <a:ext cx="148627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Standardize Columns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88380" y="2057623"/>
            <a:ext cx="753390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Consistent naming conventions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643" y="2500164"/>
            <a:ext cx="469553" cy="704404"/>
          </a:xfrm>
          <a:prstGeom prst="roundRect">
            <a:avLst>
              <a:gd name="adj" fmla="val 36004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8387" y="2742307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88380" y="2617515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Create Age Groups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88380" y="2859212"/>
            <a:ext cx="753390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Segment by demographic cohort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1643" y="3301752"/>
            <a:ext cx="469553" cy="704404"/>
          </a:xfrm>
          <a:prstGeom prst="roundRect">
            <a:avLst>
              <a:gd name="adj" fmla="val 36004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8387" y="3543895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88380" y="3419103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Frequency Mapping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88380" y="3660800"/>
            <a:ext cx="753390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Categorical encoding for analysis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643" y="4103340"/>
            <a:ext cx="469553" cy="704404"/>
          </a:xfrm>
          <a:prstGeom prst="roundRect">
            <a:avLst>
              <a:gd name="adj" fmla="val 36004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387" y="4345484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5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88380" y="4220691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Load to PostgreSQL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88380" y="4462388"/>
            <a:ext cx="753390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Export cleaned data to database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78916"/>
            <a:ext cx="37244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SQL Analysis</a:t>
            </a:r>
            <a:endParaRPr lang="en-US" sz="255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1226" y="1572257"/>
            <a:ext cx="4382616" cy="26684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63517" y="1103486"/>
            <a:ext cx="1703636" cy="1802978"/>
          </a:xfrm>
          <a:prstGeom prst="roundRect">
            <a:avLst>
              <a:gd name="adj" fmla="val 3222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77805" y="1117774"/>
            <a:ext cx="1675061" cy="392013"/>
          </a:xfrm>
          <a:prstGeom prst="roundRect">
            <a:avLst>
              <a:gd name="adj" fmla="val 9629"/>
            </a:avLst>
          </a:prstGeom>
          <a:solidFill>
            <a:srgbClr val="3D3D42"/>
          </a:solidFill>
          <a:ln/>
        </p:spPr>
      </p:sp>
      <p:sp>
        <p:nvSpPr>
          <p:cNvPr id="6" name="Text 3"/>
          <p:cNvSpPr/>
          <p:nvPr/>
        </p:nvSpPr>
        <p:spPr>
          <a:xfrm>
            <a:off x="5917332" y="1188839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08476" y="1630263"/>
            <a:ext cx="1413718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Revenue by Gender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308476" y="2158975"/>
            <a:ext cx="141371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Compare spending across genders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987629" y="1103486"/>
            <a:ext cx="1703710" cy="1802978"/>
          </a:xfrm>
          <a:prstGeom prst="roundRect">
            <a:avLst>
              <a:gd name="adj" fmla="val 3222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01917" y="1117774"/>
            <a:ext cx="1675135" cy="392013"/>
          </a:xfrm>
          <a:prstGeom prst="roundRect">
            <a:avLst>
              <a:gd name="adj" fmla="val 9629"/>
            </a:avLst>
          </a:prstGeom>
          <a:solidFill>
            <a:srgbClr val="3D3D42"/>
          </a:solidFill>
          <a:ln/>
        </p:spPr>
      </p:sp>
      <p:sp>
        <p:nvSpPr>
          <p:cNvPr id="11" name="Text 8"/>
          <p:cNvSpPr/>
          <p:nvPr/>
        </p:nvSpPr>
        <p:spPr>
          <a:xfrm>
            <a:off x="7741444" y="1188839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132588" y="1630263"/>
            <a:ext cx="1413793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Subscriber Spending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132588" y="2158975"/>
            <a:ext cx="141379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spend: subscribers vs. non-subscribers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163517" y="3026941"/>
            <a:ext cx="1703636" cy="1602135"/>
          </a:xfrm>
          <a:prstGeom prst="roundRect">
            <a:avLst>
              <a:gd name="adj" fmla="val 3426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77805" y="3041228"/>
            <a:ext cx="1675061" cy="392013"/>
          </a:xfrm>
          <a:prstGeom prst="roundRect">
            <a:avLst>
              <a:gd name="adj" fmla="val 9629"/>
            </a:avLst>
          </a:prstGeom>
          <a:solidFill>
            <a:srgbClr val="3D3D42"/>
          </a:solidFill>
          <a:ln/>
        </p:spPr>
      </p:sp>
      <p:sp>
        <p:nvSpPr>
          <p:cNvPr id="16" name="Text 13"/>
          <p:cNvSpPr/>
          <p:nvPr/>
        </p:nvSpPr>
        <p:spPr>
          <a:xfrm>
            <a:off x="5917332" y="3112294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308476" y="3553718"/>
            <a:ext cx="1413718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Repeat Buyer Analysis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308476" y="4082430"/>
            <a:ext cx="141371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Frequency and loyalty patterns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87629" y="3026941"/>
            <a:ext cx="1703710" cy="1602135"/>
          </a:xfrm>
          <a:prstGeom prst="roundRect">
            <a:avLst>
              <a:gd name="adj" fmla="val 3426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01917" y="3041228"/>
            <a:ext cx="1675135" cy="392013"/>
          </a:xfrm>
          <a:prstGeom prst="roundRect">
            <a:avLst>
              <a:gd name="adj" fmla="val 9629"/>
            </a:avLst>
          </a:prstGeom>
          <a:solidFill>
            <a:srgbClr val="3D3D42"/>
          </a:solidFill>
          <a:ln/>
        </p:spPr>
      </p:sp>
      <p:sp>
        <p:nvSpPr>
          <p:cNvPr id="21" name="Text 18"/>
          <p:cNvSpPr/>
          <p:nvPr/>
        </p:nvSpPr>
        <p:spPr>
          <a:xfrm>
            <a:off x="7741444" y="3112294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132588" y="3553718"/>
            <a:ext cx="1413793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Top Products by Category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132588" y="4082430"/>
            <a:ext cx="141379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Rank categories by revenue contribution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41661" y="1241258"/>
            <a:ext cx="5669991" cy="32967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0550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20" y="1241258"/>
            <a:ext cx="2734359" cy="3296735"/>
          </a:xfrm>
          <a:prstGeom prst="roundRect">
            <a:avLst>
              <a:gd name="adj" fmla="val 181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14076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Revenue by Category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1714128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Clothing leads all segments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4641" y="2082701"/>
            <a:ext cx="2660500" cy="19050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10" name="Text 7"/>
          <p:cNvSpPr/>
          <p:nvPr/>
        </p:nvSpPr>
        <p:spPr>
          <a:xfrm>
            <a:off x="642640" y="2224460"/>
            <a:ext cx="21035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Subscription Distribution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2640" y="2530971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Subscriber vs. non-subscriber split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2640" y="30413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Sales by Age Group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2640" y="3347814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Young adults dominate purchases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2640" y="38581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KPI Metrics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42640" y="4164657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Total revenue, avg order, repeat rate</a:t>
            </a:r>
            <a:endParaRPr lang="en-US" sz="11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6E371BCB-0106-C4FA-B972-CC1922DC58A9}"/>
              </a:ext>
            </a:extLst>
          </p:cNvPr>
          <p:cNvSpPr/>
          <p:nvPr/>
        </p:nvSpPr>
        <p:spPr>
          <a:xfrm>
            <a:off x="542659" y="2890824"/>
            <a:ext cx="2660500" cy="19050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FB46E05C-CE42-BB3C-FE1C-7999FCA45506}"/>
              </a:ext>
            </a:extLst>
          </p:cNvPr>
          <p:cNvSpPr/>
          <p:nvPr/>
        </p:nvSpPr>
        <p:spPr>
          <a:xfrm>
            <a:off x="542657" y="3702960"/>
            <a:ext cx="2660500" cy="19050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640" y="401762"/>
            <a:ext cx="38905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Findings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80640" y="1030412"/>
            <a:ext cx="4753719" cy="828080"/>
          </a:xfrm>
          <a:prstGeom prst="roundRect">
            <a:avLst>
              <a:gd name="adj" fmla="val 11042"/>
            </a:avLst>
          </a:prstGeom>
          <a:solidFill>
            <a:srgbClr val="2A2A2D">
              <a:alpha val="95000"/>
            </a:srgbClr>
          </a:solidFill>
          <a:ln w="19050">
            <a:solidFill>
              <a:srgbClr val="56565B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90" y="1030412"/>
            <a:ext cx="76200" cy="828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4134" y="1186755"/>
            <a:ext cx="2142381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👗</a:t>
            </a: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Clothing = Top Revenue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94134" y="1485826"/>
            <a:ext cx="438388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Highest-grossing category overall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80640" y="1991469"/>
            <a:ext cx="4753719" cy="828080"/>
          </a:xfrm>
          <a:prstGeom prst="roundRect">
            <a:avLst>
              <a:gd name="adj" fmla="val 11042"/>
            </a:avLst>
          </a:prstGeom>
          <a:solidFill>
            <a:srgbClr val="2A2A2D">
              <a:alpha val="95000"/>
            </a:srgbClr>
          </a:solidFill>
          <a:ln w="19050">
            <a:solidFill>
              <a:srgbClr val="56565B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90" y="1991469"/>
            <a:ext cx="76200" cy="828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4134" y="2147813"/>
            <a:ext cx="2227287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💳</a:t>
            </a: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Subscribers Spend More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4134" y="2446883"/>
            <a:ext cx="438388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Higher average transaction value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80640" y="2952527"/>
            <a:ext cx="4753719" cy="828080"/>
          </a:xfrm>
          <a:prstGeom prst="roundRect">
            <a:avLst>
              <a:gd name="adj" fmla="val 11042"/>
            </a:avLst>
          </a:prstGeom>
          <a:solidFill>
            <a:srgbClr val="2A2A2D">
              <a:alpha val="95000"/>
            </a:srgbClr>
          </a:solidFill>
          <a:ln w="19050">
            <a:solidFill>
              <a:srgbClr val="56565B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90" y="2952527"/>
            <a:ext cx="76200" cy="8280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134" y="3108871"/>
            <a:ext cx="1753344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🧑</a:t>
            </a: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Young Adults Lead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94134" y="3407941"/>
            <a:ext cx="438388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Strongest purchase volume by age group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80640" y="3913584"/>
            <a:ext cx="4753719" cy="828080"/>
          </a:xfrm>
          <a:prstGeom prst="roundRect">
            <a:avLst>
              <a:gd name="adj" fmla="val 11042"/>
            </a:avLst>
          </a:prstGeom>
          <a:solidFill>
            <a:srgbClr val="2A2A2D">
              <a:alpha val="95000"/>
            </a:srgbClr>
          </a:solidFill>
          <a:ln w="19050">
            <a:solidFill>
              <a:srgbClr val="56565B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90" y="3913584"/>
            <a:ext cx="76200" cy="8280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4134" y="4069928"/>
            <a:ext cx="1987897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🏷️</a:t>
            </a: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Discounts Drive Sales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694134" y="4368998"/>
            <a:ext cx="438388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Promotions significantly boost conversion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369</Words>
  <Application>Microsoft Office PowerPoint</Application>
  <PresentationFormat>On-screen Show (16:9)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Instrument Sans SemiBold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sushil singh</cp:lastModifiedBy>
  <cp:revision>2</cp:revision>
  <dcterms:created xsi:type="dcterms:W3CDTF">2026-05-22T12:11:57Z</dcterms:created>
  <dcterms:modified xsi:type="dcterms:W3CDTF">2026-05-22T12:30:45Z</dcterms:modified>
</cp:coreProperties>
</file>